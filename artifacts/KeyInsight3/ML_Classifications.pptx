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4707"/>
  </p:normalViewPr>
  <p:slideViewPr>
    <p:cSldViewPr snapToGrid="0">
      <p:cViewPr varScale="1">
        <p:scale>
          <a:sx n="126" d="100"/>
          <a:sy n="126" d="100"/>
        </p:scale>
        <p:origin x="200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32F19-E534-4536-4FF3-B9E6068C4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EE923-33BE-10BA-D9DF-5D170A014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7A443-CFA5-E337-1511-1E0225FCD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E4E99-F05C-F1C4-9651-2ED136F3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D96F0-7D53-4646-33B7-7D3EACA8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5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3261-457C-A732-4B90-462CF551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59AC-0DD9-F119-85FB-AEF39B6F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9D8E3-EC64-B3CF-A53B-0776E8100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F99E5-BEC3-3044-F331-4DEF0E54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B895B-7751-CB0A-709E-8E15BDC6A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34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4567-83B2-B592-FA79-7D496850D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8EBB9-E290-E431-49A1-23518E339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1E4D0-0940-8A42-3305-716B658BC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B580-94FD-3DF0-8B53-6AE770DF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6F48D-1259-43FF-F1E8-339E77A1F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3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631FE-0238-F7DA-C8D4-4E7CB034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9F03-DC0E-4065-4F92-A8841EF14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895732-9AFA-8C3D-2366-084CDDA2C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A9ABB-A94E-A395-CE09-5D3CEAE3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C05C7-7DF4-1CC2-137F-316A00476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65CBB-0843-5E9B-72C7-43D948A5D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98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A6D92-C594-5D10-EEFD-1E2A32514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02ACE-5E4A-499E-8526-827AB7888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A5B1A-DF11-9B03-7E57-05FEBFBB6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4A5E0-A9B3-F01E-06A3-423F2F627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73BED-2095-88BD-8B47-58D60E2C9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CFAB43-5714-1769-B6FC-55311157F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10FD8-7D1F-D80C-77E4-5EFB604C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C6689-20CC-5A4D-ECBF-AD7719AE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0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FD953-EA9E-E35A-D63A-D62A74FE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91026-2D69-2B9F-497D-5362B4B2B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029F7A-ECF4-408A-236A-CF50D1A4D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946FEC-A7DA-AB22-2951-44B731DF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4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0CB9F-0F06-0C82-AC79-61ADD271E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7FBDE-1434-9B8F-E86B-1DBB7D866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03100F-48FB-1A3D-EBF4-0072A1B2E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073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5D7B3-1A91-3569-6C7F-5FE87F1E1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4E457-AA62-FABC-66FF-B77653275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D9987-198D-90F4-320D-51B57C519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612E4-A0E7-2C59-C920-C5D8AD90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E805E-316E-555D-F31D-3D522002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A211F-A96A-DAFB-4379-539C94DE2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32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B7B1F-0CE7-EDBA-A0E6-5B148E44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941D2F-210C-79AC-B374-481CF2122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739444-0B9F-0C90-EC4D-EDA8207E9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B758E-1861-42AF-69B1-B4BA599BB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E072D-C036-3177-EB11-0EFC8317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35EE7-53FE-6950-AF29-5FC2B750B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5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AED7-8247-1224-5DBF-DCF266C63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0B751-CF6A-404E-8AF2-0381359F8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C6598-21E0-A45B-4541-DCBE389C9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8BBB2-D9E7-1E33-EC8C-C2A4C4D8C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1207D-9970-DD7E-B25F-6A972CD76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8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D402D-2C46-4D9F-9C8D-BFD2FF444C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62CCE-A5CB-31A8-ED1E-A82503E29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5D771-F291-3B6F-CEC2-7B2E1A2A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F86F5-8654-12E1-4583-785B141B9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2D6EE-4C77-E9D5-91F2-62B03F05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95155-0490-02BA-101D-0CF6525E8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A8D0A-F677-7C8D-6D8F-218DC33F9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9F029-3D3D-BE4F-CACA-F06C98714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9684D-E34D-4015-B5BC-F227EE330AD8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88161-C223-F4D1-B564-DE3ACECFB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49130-4530-601B-E76E-60C666DAC6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E98418-120B-4265-8DD3-4243402BD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6D179-A5D5-1739-280B-B671AF270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Machine Learning Methods: Classification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7681FE-778B-0F93-C416-7BC30008D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For Cyber Club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0E2A7-9AFA-F3F8-E677-C6E2A76C7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578" y="493963"/>
            <a:ext cx="2876838" cy="265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99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18A7-1D33-610C-7D3E-A2EAD73C7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E3BB7-D6C3-A63E-04D4-8E4405E13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Descriptive</a:t>
            </a:r>
          </a:p>
          <a:p>
            <a:pPr lvl="1"/>
            <a:r>
              <a:rPr lang="en-US" i="1" dirty="0">
                <a:highlight>
                  <a:srgbClr val="FFFF00"/>
                </a:highlight>
              </a:rPr>
              <a:t>Describes a past phenomenon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Methods: classifications, clustering, dimensionality, reinforcement learning, etc. </a:t>
            </a:r>
          </a:p>
          <a:p>
            <a:r>
              <a:rPr lang="en-US" b="1" dirty="0"/>
              <a:t>Predictive</a:t>
            </a:r>
          </a:p>
          <a:p>
            <a:pPr lvl="1"/>
            <a:r>
              <a:rPr lang="en-US" i="1" dirty="0"/>
              <a:t>Predict about a new situation</a:t>
            </a:r>
          </a:p>
          <a:p>
            <a:pPr lvl="1"/>
            <a:r>
              <a:rPr lang="en-US" dirty="0"/>
              <a:t>Methods: neural networks, time-series</a:t>
            </a:r>
          </a:p>
          <a:p>
            <a:r>
              <a:rPr lang="en-US" b="1" dirty="0"/>
              <a:t>Prescriptive</a:t>
            </a:r>
          </a:p>
          <a:p>
            <a:pPr lvl="1"/>
            <a:r>
              <a:rPr lang="en-US" i="1" dirty="0"/>
              <a:t>What an agent should do</a:t>
            </a:r>
          </a:p>
          <a:p>
            <a:pPr lvl="1"/>
            <a:r>
              <a:rPr lang="en-US" dirty="0"/>
              <a:t>Methods: simulation, reinforcement learning, reasoning.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514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DF3E3-1F1C-D7D7-2A63-EAA7FE12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Nomenclature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948B1E-74BA-BCB4-FB38-D11979C4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556" y="1884945"/>
            <a:ext cx="8187994" cy="423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499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8C073-ED69-BA89-F9E7-E99D89DB7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Classification vs Clustering</a:t>
            </a: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C8547-B745-FEE2-10CF-586359A38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Classification</a:t>
            </a:r>
          </a:p>
          <a:p>
            <a:pPr lvl="1"/>
            <a:r>
              <a:rPr lang="en-US" sz="1800" dirty="0"/>
              <a:t>Separating data into classes (also called labels, or categorical types)</a:t>
            </a:r>
          </a:p>
          <a:p>
            <a:pPr lvl="1"/>
            <a:r>
              <a:rPr lang="en-US" sz="1800" dirty="0"/>
              <a:t>One of the attributes is the label we are trying to learn</a:t>
            </a:r>
          </a:p>
          <a:p>
            <a:pPr lvl="1"/>
            <a:r>
              <a:rPr lang="en-US" sz="1800" dirty="0"/>
              <a:t>Class label is the </a:t>
            </a:r>
            <a:r>
              <a:rPr lang="en-US" sz="1800" b="1" dirty="0"/>
              <a:t>supervision</a:t>
            </a:r>
          </a:p>
          <a:p>
            <a:pPr marL="0" indent="0">
              <a:buNone/>
            </a:pPr>
            <a:r>
              <a:rPr lang="en-US" sz="1800" dirty="0"/>
              <a:t>Clustering</a:t>
            </a:r>
          </a:p>
          <a:p>
            <a:pPr lvl="1"/>
            <a:r>
              <a:rPr lang="en-US" sz="1800" dirty="0"/>
              <a:t>Trying to learn grouping of data</a:t>
            </a:r>
          </a:p>
          <a:p>
            <a:pPr lvl="1"/>
            <a:r>
              <a:rPr lang="en-US" sz="1800" dirty="0"/>
              <a:t>There is no attribute indicating membership in group (no label), aka </a:t>
            </a:r>
            <a:r>
              <a:rPr lang="en-US" sz="1800" b="1" dirty="0"/>
              <a:t>unsupervised</a:t>
            </a: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lvl="1"/>
            <a:endParaRPr lang="en-US" sz="1800" b="1" dirty="0"/>
          </a:p>
        </p:txBody>
      </p:sp>
      <p:pic>
        <p:nvPicPr>
          <p:cNvPr id="1026" name="Picture 2" descr="Difference Between Classification and Clustering (with Comparison Chart) -  Tech Differences">
            <a:extLst>
              <a:ext uri="{FF2B5EF4-FFF2-40B4-BE49-F238E27FC236}">
                <a16:creationId xmlns:a16="http://schemas.microsoft.com/office/drawing/2014/main" id="{0B976DAF-FF05-C02E-0653-674AE80A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549701"/>
            <a:ext cx="6440424" cy="370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501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3AF760-CEA5-CB9E-E48A-84CB32EC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Metrics</a:t>
            </a:r>
          </a:p>
        </p:txBody>
      </p:sp>
      <p:pic>
        <p:nvPicPr>
          <p:cNvPr id="2050" name="Picture 2" descr="Precision vs. Recall: Understanding How to Classify with Clarity |  ml-articles – Weights &amp; Biases">
            <a:extLst>
              <a:ext uri="{FF2B5EF4-FFF2-40B4-BE49-F238E27FC236}">
                <a16:creationId xmlns:a16="http://schemas.microsoft.com/office/drawing/2014/main" id="{39C9DF59-D02A-2FB4-0A69-A2ACD61221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2225" y="2606516"/>
            <a:ext cx="11327549" cy="317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56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13D3-3069-680F-25BC-306B97ABD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26221-7E33-5B93-31F1-9121A5FE3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Logistic regression is a </a:t>
            </a:r>
            <a:r>
              <a:rPr lang="en-US" b="1" dirty="0"/>
              <a:t>modification</a:t>
            </a:r>
            <a:r>
              <a:rPr lang="en-US" dirty="0"/>
              <a:t> to the </a:t>
            </a:r>
            <a:r>
              <a:rPr lang="en-US" i="1" dirty="0"/>
              <a:t>linear regression </a:t>
            </a:r>
            <a:r>
              <a:rPr lang="en-US" dirty="0"/>
              <a:t>such as the output value (or independent variable) is limited to any value between 0 and 1. It does this by applying a logit transformation to the standard linear regression formula</a:t>
            </a:r>
          </a:p>
        </p:txBody>
      </p:sp>
      <p:pic>
        <p:nvPicPr>
          <p:cNvPr id="1026" name="Picture 2" descr="THE STORY OF LOGISTIC REGRESSION… | by Nishesh Gogia | Analytics Vidhya |  Medium">
            <a:extLst>
              <a:ext uri="{FF2B5EF4-FFF2-40B4-BE49-F238E27FC236}">
                <a16:creationId xmlns:a16="http://schemas.microsoft.com/office/drawing/2014/main" id="{0D53D7C7-F951-281D-095B-13F4485DD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504" y="3886579"/>
            <a:ext cx="3486984" cy="2841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it equation for logistic regression">
            <a:extLst>
              <a:ext uri="{FF2B5EF4-FFF2-40B4-BE49-F238E27FC236}">
                <a16:creationId xmlns:a16="http://schemas.microsoft.com/office/drawing/2014/main" id="{B0E9472C-3D92-F32F-F331-E338E8A42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417" y="4150851"/>
            <a:ext cx="3841864" cy="216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685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0C5F-8F71-CFFD-6ED8-13A863F0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BB058-F396-BF37-9BF4-93A699BED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Classification based on Bayes’ theorem. Naïve Bayes updates initial class predictions with </a:t>
            </a:r>
            <a:r>
              <a:rPr lang="en-US" i="1" dirty="0"/>
              <a:t>each new piece of data</a:t>
            </a:r>
            <a:r>
              <a:rPr lang="en-US" dirty="0"/>
              <a:t>. Naïve Bayes is often utilized in natural language processing (NLP) for tasks such as </a:t>
            </a:r>
            <a:r>
              <a:rPr lang="en-US" b="1" dirty="0"/>
              <a:t>sentiment analysis</a:t>
            </a:r>
            <a:r>
              <a:rPr lang="en-US" dirty="0"/>
              <a:t>.</a:t>
            </a:r>
          </a:p>
        </p:txBody>
      </p:sp>
      <p:pic>
        <p:nvPicPr>
          <p:cNvPr id="2050" name="Picture 2" descr="Bayes rule equation">
            <a:extLst>
              <a:ext uri="{FF2B5EF4-FFF2-40B4-BE49-F238E27FC236}">
                <a16:creationId xmlns:a16="http://schemas.microsoft.com/office/drawing/2014/main" id="{71F6AEB4-E778-E02B-5257-9460AB1BF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812" y="3835270"/>
            <a:ext cx="3926575" cy="220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Understanding Naïve Bayes Algorithm: Play with Probabilities">
            <a:extLst>
              <a:ext uri="{FF2B5EF4-FFF2-40B4-BE49-F238E27FC236}">
                <a16:creationId xmlns:a16="http://schemas.microsoft.com/office/drawing/2014/main" id="{69D0E1CD-42B0-28AA-9645-4B314811A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773" y="3654998"/>
            <a:ext cx="6538415" cy="301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762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99F0-6A0F-0CFB-7A6E-38AE38EC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Neighbors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FF348-3008-BE9D-2933-860E53F14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K-Nearest Neighbors (KNN) maps points onto a multidimensional space. It then simply groups points with similar feature values into separate groups or classes. To classify new data samples, the classifier looks at the </a:t>
            </a:r>
            <a:r>
              <a:rPr lang="en-US" i="1" dirty="0"/>
              <a:t>k</a:t>
            </a:r>
            <a:r>
              <a:rPr lang="en-US" dirty="0"/>
              <a:t> points nearest to a new sample and counts how many members of each class comprise the neighboring points. </a:t>
            </a:r>
          </a:p>
        </p:txBody>
      </p:sp>
      <p:pic>
        <p:nvPicPr>
          <p:cNvPr id="3076" name="Picture 4" descr="kNN decision surface">
            <a:extLst>
              <a:ext uri="{FF2B5EF4-FFF2-40B4-BE49-F238E27FC236}">
                <a16:creationId xmlns:a16="http://schemas.microsoft.com/office/drawing/2014/main" id="{AA0B91AF-92E6-7D9C-9377-60445AF2D0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/>
          <a:stretch>
            <a:fillRect/>
          </a:stretch>
        </p:blipFill>
        <p:spPr bwMode="auto">
          <a:xfrm>
            <a:off x="5183188" y="1562100"/>
            <a:ext cx="66675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039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F129011-2249-A51F-6457-EA31CD305F7E}"/>
              </a:ext>
            </a:extLst>
          </p:cNvPr>
          <p:cNvSpPr txBox="1"/>
          <p:nvPr/>
        </p:nvSpPr>
        <p:spPr>
          <a:xfrm>
            <a:off x="1187450" y="882650"/>
            <a:ext cx="3759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+mj-lt"/>
              </a:rPr>
              <a:t>Demo!</a:t>
            </a:r>
          </a:p>
        </p:txBody>
      </p:sp>
    </p:spTree>
    <p:extLst>
      <p:ext uri="{BB962C8B-B14F-4D97-AF65-F5344CB8AC3E}">
        <p14:creationId xmlns:p14="http://schemas.microsoft.com/office/powerpoint/2010/main" val="3866927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049ecc-01a7-4402-9c64-8301738bae2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BDFDD31118FB46ACA4F6C6373B8502" ma:contentTypeVersion="13" ma:contentTypeDescription="Create a new document." ma:contentTypeScope="" ma:versionID="e953caa806c0cfda14ec56d85812932d">
  <xsd:schema xmlns:xsd="http://www.w3.org/2001/XMLSchema" xmlns:xs="http://www.w3.org/2001/XMLSchema" xmlns:p="http://schemas.microsoft.com/office/2006/metadata/properties" xmlns:ns3="31049ecc-01a7-4402-9c64-8301738bae21" xmlns:ns4="8b1ec13b-493c-4955-bb64-d518f85acc4a" targetNamespace="http://schemas.microsoft.com/office/2006/metadata/properties" ma:root="true" ma:fieldsID="cd93bef959e996ea419573d1476b542d" ns3:_="" ns4:_="">
    <xsd:import namespace="31049ecc-01a7-4402-9c64-8301738bae21"/>
    <xsd:import namespace="8b1ec13b-493c-4955-bb64-d518f85acc4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049ecc-01a7-4402-9c64-8301738bae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ec13b-493c-4955-bb64-d518f85acc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71E43C-67D8-43BE-AA99-B34DCCEE1D7D}">
  <ds:schemaRefs>
    <ds:schemaRef ds:uri="http://purl.org/dc/dcmitype/"/>
    <ds:schemaRef ds:uri="31049ecc-01a7-4402-9c64-8301738bae21"/>
    <ds:schemaRef ds:uri="http://purl.org/dc/elements/1.1/"/>
    <ds:schemaRef ds:uri="8b1ec13b-493c-4955-bb64-d518f85acc4a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B872578-96C3-4B25-AB45-EE0AAF43E2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B5ED55-B6E6-4297-8641-D8922CC09C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049ecc-01a7-4402-9c64-8301738bae21"/>
    <ds:schemaRef ds:uri="8b1ec13b-493c-4955-bb64-d518f85ac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262</Words>
  <Application>Microsoft Macintosh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Machine Learning Methods: Classification</vt:lpstr>
      <vt:lpstr>Insights from Machine Learning</vt:lpstr>
      <vt:lpstr>Nomenclature</vt:lpstr>
      <vt:lpstr>Classification vs Clustering</vt:lpstr>
      <vt:lpstr>Metrics</vt:lpstr>
      <vt:lpstr>Logistic Regression</vt:lpstr>
      <vt:lpstr>Naïve Bayes</vt:lpstr>
      <vt:lpstr>K-Nearest Neighbors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Ervin, Alex</dc:creator>
  <cp:lastModifiedBy>Ervin, Alex</cp:lastModifiedBy>
  <cp:revision>2</cp:revision>
  <dcterms:created xsi:type="dcterms:W3CDTF">2026-02-13T05:35:16Z</dcterms:created>
  <dcterms:modified xsi:type="dcterms:W3CDTF">2026-03-02T20:44:29Z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0x01010085BDFDD31118FB46ACA4F6C6373B8502</vt:lpwstr>
  </property>
</Properties>
</file>